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Gagalin" charset="1" panose="00000500000000000000"/>
      <p:regular r:id="rId20"/>
    </p:embeddedFont>
    <p:embeddedFont>
      <p:font typeface="Arimo Bold" charset="1" panose="020B07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4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4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9.jpe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4191" y="777030"/>
            <a:ext cx="6549476" cy="8732787"/>
            <a:chOff x="0" y="0"/>
            <a:chExt cx="8732634" cy="1164371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32647" cy="11643741"/>
            </a:xfrm>
            <a:custGeom>
              <a:avLst/>
              <a:gdLst/>
              <a:ahLst/>
              <a:cxnLst/>
              <a:rect r="r" b="b" t="t" l="l"/>
              <a:pathLst>
                <a:path h="11643741" w="8732647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938049" y="3188341"/>
            <a:ext cx="9269911" cy="158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Famous Historical Cryptographic Machines and Events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38049" y="5127279"/>
            <a:ext cx="9269911" cy="144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How secret codes shaped history — from simple shifts on parchment to electromechanical machines that altered the course of wars.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7928524" y="6786533"/>
            <a:ext cx="4467182" cy="808678"/>
          </a:xfrm>
          <a:custGeom>
            <a:avLst/>
            <a:gdLst/>
            <a:ahLst/>
            <a:cxnLst/>
            <a:rect r="r" b="b" t="t" l="l"/>
            <a:pathLst>
              <a:path h="808678" w="4467182">
                <a:moveTo>
                  <a:pt x="0" y="0"/>
                </a:moveTo>
                <a:lnTo>
                  <a:pt x="4467183" y="0"/>
                </a:lnTo>
                <a:lnTo>
                  <a:pt x="4467183" y="808678"/>
                </a:lnTo>
                <a:lnTo>
                  <a:pt x="0" y="80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17" r="0" b="-11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616979" y="6929116"/>
            <a:ext cx="1939073" cy="19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3"/>
              </a:lnSpc>
            </a:pPr>
            <a:r>
              <a:rPr lang="en-US" sz="1276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Rishabh Alpeshabhai Shah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16979" y="7190464"/>
            <a:ext cx="3626619" cy="19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0"/>
              </a:lnSpc>
            </a:pPr>
            <a:r>
              <a:rPr lang="en-US" sz="104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Enrolment: 23SS02IT181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2573005" y="6808725"/>
            <a:ext cx="4344593" cy="786486"/>
          </a:xfrm>
          <a:custGeom>
            <a:avLst/>
            <a:gdLst/>
            <a:ahLst/>
            <a:cxnLst/>
            <a:rect r="r" b="b" t="t" l="l"/>
            <a:pathLst>
              <a:path h="786486" w="4344593">
                <a:moveTo>
                  <a:pt x="0" y="0"/>
                </a:moveTo>
                <a:lnTo>
                  <a:pt x="4344593" y="0"/>
                </a:lnTo>
                <a:lnTo>
                  <a:pt x="4344593" y="786486"/>
                </a:lnTo>
                <a:lnTo>
                  <a:pt x="0" y="7864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17" r="0" b="-11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242567" y="6947134"/>
            <a:ext cx="2220176" cy="19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9"/>
              </a:lnSpc>
            </a:pPr>
            <a:r>
              <a:rPr lang="en-US" sz="124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Raj Jaydeepsinh Mahendrasinh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42567" y="7191000"/>
            <a:ext cx="3527097" cy="198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5"/>
              </a:lnSpc>
            </a:pPr>
            <a:r>
              <a:rPr lang="en-US" sz="101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Enrolment: 23SS02IT160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10344564" y="7792422"/>
            <a:ext cx="4196659" cy="759707"/>
          </a:xfrm>
          <a:custGeom>
            <a:avLst/>
            <a:gdLst/>
            <a:ahLst/>
            <a:cxnLst/>
            <a:rect r="r" b="b" t="t" l="l"/>
            <a:pathLst>
              <a:path h="759707" w="4196659">
                <a:moveTo>
                  <a:pt x="0" y="0"/>
                </a:moveTo>
                <a:lnTo>
                  <a:pt x="4196659" y="0"/>
                </a:lnTo>
                <a:lnTo>
                  <a:pt x="4196659" y="759707"/>
                </a:lnTo>
                <a:lnTo>
                  <a:pt x="0" y="759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17" r="0" b="-117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991328" y="7935315"/>
            <a:ext cx="2805417" cy="17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1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Shakib Ahmed Mohammad Faruk Bhorania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91328" y="8160060"/>
            <a:ext cx="3406999" cy="193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977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Enrolment: 23SS02IT240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4191" y="777030"/>
            <a:ext cx="6549476" cy="8732787"/>
            <a:chOff x="0" y="0"/>
            <a:chExt cx="8732634" cy="1164371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32647" cy="11643741"/>
            </a:xfrm>
            <a:custGeom>
              <a:avLst/>
              <a:gdLst/>
              <a:ahLst/>
              <a:cxnLst/>
              <a:rect r="r" b="b" t="t" l="l"/>
              <a:pathLst>
                <a:path h="11643741" w="8732647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80049" y="1189882"/>
            <a:ext cx="9269911" cy="65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What is Cryptography?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0049" y="2203247"/>
            <a:ext cx="9269911" cy="158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Cryptography is the art and science of hiding and protecting information. It has two core stages: </a:t>
            </a:r>
            <a:r>
              <a:rPr lang="en-US" sz="2400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encryption</a:t>
            </a: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(turning a message into a secret form) and </a:t>
            </a:r>
            <a:r>
              <a:rPr lang="en-US" sz="2400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decryption</a:t>
            </a: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(recovering the original message).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080049" y="4136527"/>
            <a:ext cx="771525" cy="771525"/>
          </a:xfrm>
          <a:custGeom>
            <a:avLst/>
            <a:gdLst/>
            <a:ahLst/>
            <a:cxnLst/>
            <a:rect r="r" b="b" t="t" l="l"/>
            <a:pathLst>
              <a:path h="771525" w="771525">
                <a:moveTo>
                  <a:pt x="0" y="0"/>
                </a:moveTo>
                <a:lnTo>
                  <a:pt x="771525" y="0"/>
                </a:lnTo>
                <a:lnTo>
                  <a:pt x="771525" y="771525"/>
                </a:ln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877" r="0" b="-487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37337" y="4117477"/>
            <a:ext cx="8112623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Purpose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37337" y="4602661"/>
            <a:ext cx="8112623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Protect messages from enemies, spies, and unauthorized readers.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80049" y="5818432"/>
            <a:ext cx="771525" cy="771525"/>
          </a:xfrm>
          <a:custGeom>
            <a:avLst/>
            <a:gdLst/>
            <a:ahLst/>
            <a:cxnLst/>
            <a:rect r="r" b="b" t="t" l="l"/>
            <a:pathLst>
              <a:path h="771525" w="771525">
                <a:moveTo>
                  <a:pt x="0" y="0"/>
                </a:moveTo>
                <a:lnTo>
                  <a:pt x="771525" y="0"/>
                </a:lnTo>
                <a:lnTo>
                  <a:pt x="771525" y="771525"/>
                </a:ln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9146" t="0" r="-9145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37337" y="5799382"/>
            <a:ext cx="8112623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Contexts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37337" y="6284566"/>
            <a:ext cx="8112623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Used in war, diplomacy, commerce, and modern digital communications.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080049" y="7500337"/>
            <a:ext cx="771525" cy="771525"/>
          </a:xfrm>
          <a:custGeom>
            <a:avLst/>
            <a:gdLst/>
            <a:ahLst/>
            <a:cxnLst/>
            <a:rect r="r" b="b" t="t" l="l"/>
            <a:pathLst>
              <a:path h="771525" w="771525">
                <a:moveTo>
                  <a:pt x="0" y="0"/>
                </a:moveTo>
                <a:lnTo>
                  <a:pt x="771525" y="0"/>
                </a:lnTo>
                <a:lnTo>
                  <a:pt x="771525" y="771525"/>
                </a:ln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9146" r="0" b="-9145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237337" y="7481287"/>
            <a:ext cx="8112623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History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37337" y="7966472"/>
            <a:ext cx="8112623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Practiced since ancient times — evolving with technology and mathematical ideas.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4191" y="777030"/>
            <a:ext cx="6549476" cy="8732787"/>
            <a:chOff x="0" y="0"/>
            <a:chExt cx="8732634" cy="1164371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32647" cy="11643741"/>
            </a:xfrm>
            <a:custGeom>
              <a:avLst/>
              <a:gdLst/>
              <a:ahLst/>
              <a:cxnLst/>
              <a:rect r="r" b="b" t="t" l="l"/>
              <a:pathLst>
                <a:path h="11643741" w="8732647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80049" y="1189882"/>
            <a:ext cx="9269911" cy="65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Caesar Cipher — Ancient Rome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0049" y="2203247"/>
            <a:ext cx="9269911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Caesar cipher shifts each letter by a fixed number. Julius Caesar used it to conceal military orders: for example, A shifted by 3 becomes 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80049" y="3806723"/>
            <a:ext cx="154191" cy="154191"/>
            <a:chOff x="0" y="0"/>
            <a:chExt cx="205588" cy="2055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5486" cy="205486"/>
            </a:xfrm>
            <a:custGeom>
              <a:avLst/>
              <a:gdLst/>
              <a:ahLst/>
              <a:cxnLst/>
              <a:rect r="r" b="b" t="t" l="l"/>
              <a:pathLst>
                <a:path h="205486" w="205486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cubicBezTo>
                    <a:pt x="159512" y="0"/>
                    <a:pt x="205486" y="45974"/>
                    <a:pt x="205486" y="102743"/>
                  </a:cubicBezTo>
                  <a:cubicBezTo>
                    <a:pt x="205486" y="159512"/>
                    <a:pt x="159512" y="205486"/>
                    <a:pt x="102743" y="205486"/>
                  </a:cubicBezTo>
                  <a:cubicBezTo>
                    <a:pt x="45974" y="205486"/>
                    <a:pt x="0" y="159512"/>
                    <a:pt x="0" y="102743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42755" y="3623672"/>
            <a:ext cx="880720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How it works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2755" y="4108847"/>
            <a:ext cx="8807206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Replace each letter with another a fixed distance away in the alphabet.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80049" y="5488629"/>
            <a:ext cx="154191" cy="154191"/>
            <a:chOff x="0" y="0"/>
            <a:chExt cx="205588" cy="2055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5486" cy="205486"/>
            </a:xfrm>
            <a:custGeom>
              <a:avLst/>
              <a:gdLst/>
              <a:ahLst/>
              <a:cxnLst/>
              <a:rect r="r" b="b" t="t" l="l"/>
              <a:pathLst>
                <a:path h="205486" w="205486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cubicBezTo>
                    <a:pt x="159512" y="0"/>
                    <a:pt x="205486" y="45974"/>
                    <a:pt x="205486" y="102743"/>
                  </a:cubicBezTo>
                  <a:cubicBezTo>
                    <a:pt x="205486" y="159512"/>
                    <a:pt x="159512" y="205486"/>
                    <a:pt x="102743" y="205486"/>
                  </a:cubicBezTo>
                  <a:cubicBezTo>
                    <a:pt x="45974" y="205486"/>
                    <a:pt x="0" y="159512"/>
                    <a:pt x="0" y="102743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542755" y="5305577"/>
            <a:ext cx="880720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Strengths &amp; limits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42755" y="5790752"/>
            <a:ext cx="8807206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Simple and fast for its time; easily broken with frequency analysis or brute force.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80049" y="7664348"/>
            <a:ext cx="154191" cy="154191"/>
            <a:chOff x="0" y="0"/>
            <a:chExt cx="205588" cy="2055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5486" cy="205486"/>
            </a:xfrm>
            <a:custGeom>
              <a:avLst/>
              <a:gdLst/>
              <a:ahLst/>
              <a:cxnLst/>
              <a:rect r="r" b="b" t="t" l="l"/>
              <a:pathLst>
                <a:path h="205486" w="205486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cubicBezTo>
                    <a:pt x="159512" y="0"/>
                    <a:pt x="205486" y="45974"/>
                    <a:pt x="205486" y="102743"/>
                  </a:cubicBezTo>
                  <a:cubicBezTo>
                    <a:pt x="205486" y="159512"/>
                    <a:pt x="159512" y="205486"/>
                    <a:pt x="102743" y="205486"/>
                  </a:cubicBezTo>
                  <a:cubicBezTo>
                    <a:pt x="45974" y="205486"/>
                    <a:pt x="0" y="159512"/>
                    <a:pt x="0" y="102743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542755" y="7481287"/>
            <a:ext cx="880720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Legacy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42755" y="7966472"/>
            <a:ext cx="8807206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One of the earliest documented ciphers — a stepping stone to more advanced methods.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4191" y="777030"/>
            <a:ext cx="6549476" cy="8732787"/>
            <a:chOff x="0" y="0"/>
            <a:chExt cx="8732634" cy="1164371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32647" cy="11643741"/>
            </a:xfrm>
            <a:custGeom>
              <a:avLst/>
              <a:gdLst/>
              <a:ahLst/>
              <a:cxnLst/>
              <a:rect r="r" b="b" t="t" l="l"/>
              <a:pathLst>
                <a:path h="11643741" w="8732647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938049" y="873623"/>
            <a:ext cx="9269911" cy="65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Scytale — Ancient Greece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38049" y="1886988"/>
            <a:ext cx="9269911" cy="158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scytale is a physical cipher: a strip of parchment wrapped around a rod. Only the correct rod diameter restores the message’s readable order — an early example of requiring the right 'key' object.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7938049" y="3820268"/>
            <a:ext cx="771525" cy="771525"/>
          </a:xfrm>
          <a:custGeom>
            <a:avLst/>
            <a:gdLst/>
            <a:ahLst/>
            <a:cxnLst/>
            <a:rect r="r" b="b" t="t" l="l"/>
            <a:pathLst>
              <a:path h="771525" w="771525">
                <a:moveTo>
                  <a:pt x="0" y="0"/>
                </a:moveTo>
                <a:lnTo>
                  <a:pt x="771525" y="0"/>
                </a:lnTo>
                <a:lnTo>
                  <a:pt x="771525" y="771525"/>
                </a:ln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17072" r="0" b="-117074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938049" y="4958505"/>
            <a:ext cx="9269911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38049" y="5443690"/>
            <a:ext cx="9269911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Military communications, notably by Spartans for quick, secure orders.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7938049" y="6659461"/>
            <a:ext cx="771525" cy="771525"/>
          </a:xfrm>
          <a:custGeom>
            <a:avLst/>
            <a:gdLst/>
            <a:ahLst/>
            <a:cxnLst/>
            <a:rect r="r" b="b" t="t" l="l"/>
            <a:pathLst>
              <a:path h="771525" w="771525">
                <a:moveTo>
                  <a:pt x="0" y="0"/>
                </a:moveTo>
                <a:lnTo>
                  <a:pt x="771525" y="0"/>
                </a:lnTo>
                <a:lnTo>
                  <a:pt x="771525" y="771525"/>
                </a:ln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1951" r="0" b="-2195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938049" y="7797698"/>
            <a:ext cx="9269911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Concept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38049" y="8282883"/>
            <a:ext cx="9269911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Demonstrates that encryption can be physical as well as written — the rod is the secret key.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4191" y="777030"/>
            <a:ext cx="6549476" cy="8732787"/>
            <a:chOff x="0" y="0"/>
            <a:chExt cx="8732634" cy="1164371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32647" cy="11643741"/>
            </a:xfrm>
            <a:custGeom>
              <a:avLst/>
              <a:gdLst/>
              <a:ahLst/>
              <a:cxnLst/>
              <a:rect r="r" b="b" t="t" l="l"/>
              <a:pathLst>
                <a:path h="11643741" w="8732647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80049" y="1678038"/>
            <a:ext cx="9269911" cy="65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Enigma Machine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0049" y="2691403"/>
            <a:ext cx="9269911" cy="158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An electromechanical cipher machine used by Germany in World War II. With rotating rotors and plugboard wiring, Enigma produced a vast number of settings — making messages appear random to interceptors.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70524" y="4615158"/>
            <a:ext cx="713337" cy="713337"/>
            <a:chOff x="0" y="0"/>
            <a:chExt cx="951116" cy="9511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1103" cy="951103"/>
            </a:xfrm>
            <a:custGeom>
              <a:avLst/>
              <a:gdLst/>
              <a:ahLst/>
              <a:cxnLst/>
              <a:rect r="r" b="b" t="t" l="l"/>
              <a:pathLst>
                <a:path h="951103" w="951103">
                  <a:moveTo>
                    <a:pt x="0" y="177546"/>
                  </a:moveTo>
                  <a:cubicBezTo>
                    <a:pt x="0" y="79502"/>
                    <a:pt x="79502" y="0"/>
                    <a:pt x="177546" y="0"/>
                  </a:cubicBezTo>
                  <a:lnTo>
                    <a:pt x="773557" y="0"/>
                  </a:lnTo>
                  <a:cubicBezTo>
                    <a:pt x="871601" y="0"/>
                    <a:pt x="951103" y="79502"/>
                    <a:pt x="951103" y="177546"/>
                  </a:cubicBezTo>
                  <a:lnTo>
                    <a:pt x="951103" y="773557"/>
                  </a:lnTo>
                  <a:cubicBezTo>
                    <a:pt x="951103" y="871601"/>
                    <a:pt x="871601" y="951103"/>
                    <a:pt x="773557" y="951103"/>
                  </a:cubicBezTo>
                  <a:lnTo>
                    <a:pt x="177546" y="951103"/>
                  </a:lnTo>
                  <a:cubicBezTo>
                    <a:pt x="79502" y="951103"/>
                    <a:pt x="0" y="871601"/>
                    <a:pt x="0" y="773557"/>
                  </a:cubicBezTo>
                  <a:close/>
                </a:path>
              </a:pathLst>
            </a:custGeom>
            <a:solidFill>
              <a:srgbClr val="E6E6E6"/>
            </a:solidFill>
            <a:ln w="19050" cap="sq">
              <a:solidFill>
                <a:srgbClr val="CCCCCC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2082851" y="4711598"/>
            <a:ext cx="8267100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Design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82851" y="5196783"/>
            <a:ext cx="8267100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Keyboard, lamps, rotors — each keypress mapped through changing electrical paths.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70524" y="6896843"/>
            <a:ext cx="713337" cy="713337"/>
            <a:chOff x="0" y="0"/>
            <a:chExt cx="951116" cy="9511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1103" cy="951103"/>
            </a:xfrm>
            <a:custGeom>
              <a:avLst/>
              <a:gdLst/>
              <a:ahLst/>
              <a:cxnLst/>
              <a:rect r="r" b="b" t="t" l="l"/>
              <a:pathLst>
                <a:path h="951103" w="951103">
                  <a:moveTo>
                    <a:pt x="0" y="177546"/>
                  </a:moveTo>
                  <a:cubicBezTo>
                    <a:pt x="0" y="79502"/>
                    <a:pt x="79502" y="0"/>
                    <a:pt x="177546" y="0"/>
                  </a:cubicBezTo>
                  <a:lnTo>
                    <a:pt x="773557" y="0"/>
                  </a:lnTo>
                  <a:cubicBezTo>
                    <a:pt x="871601" y="0"/>
                    <a:pt x="951103" y="79502"/>
                    <a:pt x="951103" y="177546"/>
                  </a:cubicBezTo>
                  <a:lnTo>
                    <a:pt x="951103" y="773557"/>
                  </a:lnTo>
                  <a:cubicBezTo>
                    <a:pt x="951103" y="871601"/>
                    <a:pt x="871601" y="951103"/>
                    <a:pt x="773557" y="951103"/>
                  </a:cubicBezTo>
                  <a:lnTo>
                    <a:pt x="177546" y="951103"/>
                  </a:lnTo>
                  <a:cubicBezTo>
                    <a:pt x="79502" y="951103"/>
                    <a:pt x="0" y="871601"/>
                    <a:pt x="0" y="773557"/>
                  </a:cubicBezTo>
                  <a:close/>
                </a:path>
              </a:pathLst>
            </a:custGeom>
            <a:solidFill>
              <a:srgbClr val="E6E6E6"/>
            </a:solidFill>
            <a:ln w="19050" cap="sq">
              <a:solidFill>
                <a:srgbClr val="CCCCCC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2082851" y="6993284"/>
            <a:ext cx="8267100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Belief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82851" y="7478468"/>
            <a:ext cx="8267100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Germany considered it unbreakable; operational security sometimes relied on this confidence.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935984"/>
            <a:ext cx="16127911" cy="65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Breaking Enigma — Allied Effort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2103682"/>
            <a:ext cx="16127911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British cryptanalysts, including Alan Turing, developed techniques and machines (the Bombe) to deduce Enigma settings. Cracking Enigma shortened the war by giving the Allies timely intelligence.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0049" y="3543148"/>
            <a:ext cx="617191" cy="385762"/>
            <a:chOff x="0" y="0"/>
            <a:chExt cx="822922" cy="514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2920" cy="514349"/>
            </a:xfrm>
            <a:custGeom>
              <a:avLst/>
              <a:gdLst/>
              <a:ahLst/>
              <a:cxnLst/>
              <a:rect r="r" b="b" t="t" l="l"/>
              <a:pathLst>
                <a:path h="514349" w="822920">
                  <a:moveTo>
                    <a:pt x="0" y="0"/>
                  </a:moveTo>
                  <a:lnTo>
                    <a:pt x="822920" y="0"/>
                  </a:lnTo>
                  <a:lnTo>
                    <a:pt x="822920" y="514349"/>
                  </a:lnTo>
                  <a:lnTo>
                    <a:pt x="0" y="514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3" t="0" r="-3019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22922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83838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0049" y="4029523"/>
            <a:ext cx="5170294" cy="38100"/>
            <a:chOff x="0" y="0"/>
            <a:chExt cx="6893725" cy="5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93687" cy="50800"/>
            </a:xfrm>
            <a:custGeom>
              <a:avLst/>
              <a:gdLst/>
              <a:ahLst/>
              <a:cxnLst/>
              <a:rect r="r" b="b" t="t" l="l"/>
              <a:pathLst>
                <a:path h="50800" w="6893687">
                  <a:moveTo>
                    <a:pt x="0" y="0"/>
                  </a:moveTo>
                  <a:lnTo>
                    <a:pt x="6893687" y="0"/>
                  </a:lnTo>
                  <a:lnTo>
                    <a:pt x="689368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80049" y="4240854"/>
            <a:ext cx="5170294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Intercept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0049" y="4726038"/>
            <a:ext cx="5170294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Collect encrypted messages and operational clues.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58858" y="3543148"/>
            <a:ext cx="617191" cy="385762"/>
            <a:chOff x="0" y="0"/>
            <a:chExt cx="822922" cy="514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2920" cy="514349"/>
            </a:xfrm>
            <a:custGeom>
              <a:avLst/>
              <a:gdLst/>
              <a:ahLst/>
              <a:cxnLst/>
              <a:rect r="r" b="b" t="t" l="l"/>
              <a:pathLst>
                <a:path h="514349" w="822920">
                  <a:moveTo>
                    <a:pt x="0" y="0"/>
                  </a:moveTo>
                  <a:lnTo>
                    <a:pt x="822920" y="0"/>
                  </a:lnTo>
                  <a:lnTo>
                    <a:pt x="822920" y="514349"/>
                  </a:lnTo>
                  <a:lnTo>
                    <a:pt x="0" y="514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3" t="0" r="-3019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822922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83838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58858" y="4029523"/>
            <a:ext cx="5170294" cy="38100"/>
            <a:chOff x="0" y="0"/>
            <a:chExt cx="6893725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93687" cy="50800"/>
            </a:xfrm>
            <a:custGeom>
              <a:avLst/>
              <a:gdLst/>
              <a:ahLst/>
              <a:cxnLst/>
              <a:rect r="r" b="b" t="t" l="l"/>
              <a:pathLst>
                <a:path h="50800" w="6893687">
                  <a:moveTo>
                    <a:pt x="0" y="0"/>
                  </a:moveTo>
                  <a:lnTo>
                    <a:pt x="6893687" y="0"/>
                  </a:lnTo>
                  <a:lnTo>
                    <a:pt x="689368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558858" y="4240854"/>
            <a:ext cx="5170294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Analyse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58858" y="4726038"/>
            <a:ext cx="5170294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Identify predictable message patterns and key reuse.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37666" y="3543148"/>
            <a:ext cx="617191" cy="385762"/>
            <a:chOff x="0" y="0"/>
            <a:chExt cx="822922" cy="5143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2920" cy="514349"/>
            </a:xfrm>
            <a:custGeom>
              <a:avLst/>
              <a:gdLst/>
              <a:ahLst/>
              <a:cxnLst/>
              <a:rect r="r" b="b" t="t" l="l"/>
              <a:pathLst>
                <a:path h="514349" w="822920">
                  <a:moveTo>
                    <a:pt x="0" y="0"/>
                  </a:moveTo>
                  <a:lnTo>
                    <a:pt x="822920" y="0"/>
                  </a:lnTo>
                  <a:lnTo>
                    <a:pt x="822920" y="514349"/>
                  </a:lnTo>
                  <a:lnTo>
                    <a:pt x="0" y="514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3" t="0" r="-3019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22922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83838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37666" y="4029523"/>
            <a:ext cx="5170294" cy="38100"/>
            <a:chOff x="0" y="0"/>
            <a:chExt cx="6893725" cy="50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93687" cy="50800"/>
            </a:xfrm>
            <a:custGeom>
              <a:avLst/>
              <a:gdLst/>
              <a:ahLst/>
              <a:cxnLst/>
              <a:rect r="r" b="b" t="t" l="l"/>
              <a:pathLst>
                <a:path h="50800" w="6893687">
                  <a:moveTo>
                    <a:pt x="0" y="0"/>
                  </a:moveTo>
                  <a:lnTo>
                    <a:pt x="6893687" y="0"/>
                  </a:lnTo>
                  <a:lnTo>
                    <a:pt x="689368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037666" y="4240854"/>
            <a:ext cx="5170294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Automate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37666" y="4726038"/>
            <a:ext cx="5170294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Use the Bombe to test rotor and plugboard combinations rapidly.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80049" y="7237809"/>
            <a:ext cx="16127911" cy="1234230"/>
            <a:chOff x="0" y="0"/>
            <a:chExt cx="21503881" cy="16456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503894" cy="1645666"/>
            </a:xfrm>
            <a:custGeom>
              <a:avLst/>
              <a:gdLst/>
              <a:ahLst/>
              <a:cxnLst/>
              <a:rect r="r" b="b" t="t" l="l"/>
              <a:pathLst>
                <a:path h="1645666" w="21503894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21331047" y="0"/>
                  </a:lnTo>
                  <a:cubicBezTo>
                    <a:pt x="21426551" y="0"/>
                    <a:pt x="21503894" y="77343"/>
                    <a:pt x="21503894" y="172847"/>
                  </a:cubicBezTo>
                  <a:lnTo>
                    <a:pt x="21503894" y="1472819"/>
                  </a:lnTo>
                  <a:cubicBezTo>
                    <a:pt x="21503894" y="1568323"/>
                    <a:pt x="21426551" y="1645666"/>
                    <a:pt x="21331047" y="1645666"/>
                  </a:cubicBezTo>
                  <a:lnTo>
                    <a:pt x="172847" y="1645666"/>
                  </a:lnTo>
                  <a:cubicBezTo>
                    <a:pt x="77343" y="1645666"/>
                    <a:pt x="0" y="1568323"/>
                    <a:pt x="0" y="1472819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88564" y="7677302"/>
            <a:ext cx="385762" cy="308524"/>
            <a:chOff x="0" y="0"/>
            <a:chExt cx="514350" cy="411366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514350" cy="411353"/>
            </a:xfrm>
            <a:custGeom>
              <a:avLst/>
              <a:gdLst/>
              <a:ahLst/>
              <a:cxnLst/>
              <a:rect r="r" b="b" t="t" l="l"/>
              <a:pathLst>
                <a:path h="411353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11353"/>
                  </a:lnTo>
                  <a:lnTo>
                    <a:pt x="0" y="411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7" r="0" b="-324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2082851" y="7518644"/>
            <a:ext cx="15730985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Alan Turing’s work laid foundations for modern computing as well as cryptanalysis.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9" y="935384"/>
            <a:ext cx="7875832" cy="7875832"/>
            <a:chOff x="0" y="0"/>
            <a:chExt cx="10501109" cy="1050110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0501122" cy="10501122"/>
            </a:xfrm>
            <a:custGeom>
              <a:avLst/>
              <a:gdLst/>
              <a:ahLst/>
              <a:cxnLst/>
              <a:rect r="r" b="b" t="t" l="l"/>
              <a:pathLst>
                <a:path h="10501122" w="10501122">
                  <a:moveTo>
                    <a:pt x="0" y="0"/>
                  </a:moveTo>
                  <a:lnTo>
                    <a:pt x="10501122" y="0"/>
                  </a:lnTo>
                  <a:lnTo>
                    <a:pt x="10501122" y="10501122"/>
                  </a:lnTo>
                  <a:lnTo>
                    <a:pt x="0" y="10501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82548" y="2675920"/>
            <a:ext cx="6224954" cy="57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5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Lorenz Cipher &amp; Colossus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41644" y="4967888"/>
            <a:ext cx="8946356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Lorenz SZ was used by German High Command for top-secret traffic. It was more complex than Enigma and required new methods to break.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0" y="7698621"/>
            <a:ext cx="8816584" cy="1276606"/>
            <a:chOff x="0" y="0"/>
            <a:chExt cx="11755445" cy="17021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55403" cy="1702153"/>
            </a:xfrm>
            <a:custGeom>
              <a:avLst/>
              <a:gdLst/>
              <a:ahLst/>
              <a:cxnLst/>
              <a:rect r="r" b="b" t="t" l="l"/>
              <a:pathLst>
                <a:path h="1702153" w="11755403">
                  <a:moveTo>
                    <a:pt x="0" y="115406"/>
                  </a:moveTo>
                  <a:cubicBezTo>
                    <a:pt x="0" y="51717"/>
                    <a:pt x="43288" y="0"/>
                    <a:pt x="96598" y="0"/>
                  </a:cubicBezTo>
                  <a:lnTo>
                    <a:pt x="11658806" y="0"/>
                  </a:lnTo>
                  <a:cubicBezTo>
                    <a:pt x="11712116" y="0"/>
                    <a:pt x="11755403" y="51717"/>
                    <a:pt x="11755403" y="115406"/>
                  </a:cubicBezTo>
                  <a:lnTo>
                    <a:pt x="11755403" y="1586751"/>
                  </a:lnTo>
                  <a:cubicBezTo>
                    <a:pt x="11755403" y="1650441"/>
                    <a:pt x="11712116" y="1702153"/>
                    <a:pt x="11658806" y="1702153"/>
                  </a:cubicBezTo>
                  <a:lnTo>
                    <a:pt x="96598" y="1702153"/>
                  </a:lnTo>
                  <a:cubicBezTo>
                    <a:pt x="43288" y="1702153"/>
                    <a:pt x="0" y="1650441"/>
                    <a:pt x="0" y="1586751"/>
                  </a:cubicBezTo>
                  <a:close/>
                </a:path>
              </a:pathLst>
            </a:custGeom>
            <a:solidFill>
              <a:srgbClr val="F7F7F7"/>
            </a:solidFill>
            <a:ln w="19050" cap="sq">
              <a:solidFill>
                <a:srgbClr val="CCCCC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334772" y="7833762"/>
            <a:ext cx="1754727" cy="33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Breakthrough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44297" y="8111025"/>
            <a:ext cx="841597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British cryptanalysts used pattern analysis and built Colossus — one of the first programmable electronic computers — to speed decryption.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73023" y="8975227"/>
            <a:ext cx="8787561" cy="1165508"/>
            <a:chOff x="0" y="0"/>
            <a:chExt cx="11716748" cy="15540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16707" cy="1554023"/>
            </a:xfrm>
            <a:custGeom>
              <a:avLst/>
              <a:gdLst/>
              <a:ahLst/>
              <a:cxnLst/>
              <a:rect r="r" b="b" t="t" l="l"/>
              <a:pathLst>
                <a:path h="1554023" w="11716707">
                  <a:moveTo>
                    <a:pt x="0" y="105363"/>
                  </a:moveTo>
                  <a:cubicBezTo>
                    <a:pt x="0" y="47216"/>
                    <a:pt x="43145" y="0"/>
                    <a:pt x="96280" y="0"/>
                  </a:cubicBezTo>
                  <a:lnTo>
                    <a:pt x="11620427" y="0"/>
                  </a:lnTo>
                  <a:cubicBezTo>
                    <a:pt x="11673562" y="0"/>
                    <a:pt x="11716707" y="47216"/>
                    <a:pt x="11716707" y="105363"/>
                  </a:cubicBezTo>
                  <a:lnTo>
                    <a:pt x="11716707" y="1448663"/>
                  </a:lnTo>
                  <a:cubicBezTo>
                    <a:pt x="11716707" y="1506809"/>
                    <a:pt x="11673562" y="1554023"/>
                    <a:pt x="11620427" y="1554023"/>
                  </a:cubicBezTo>
                  <a:lnTo>
                    <a:pt x="96280" y="1554023"/>
                  </a:lnTo>
                  <a:cubicBezTo>
                    <a:pt x="43145" y="1554023"/>
                    <a:pt x="0" y="1506809"/>
                    <a:pt x="0" y="1448663"/>
                  </a:cubicBezTo>
                  <a:close/>
                </a:path>
              </a:pathLst>
            </a:custGeom>
            <a:solidFill>
              <a:srgbClr val="F7F7F7"/>
            </a:solidFill>
            <a:ln w="19050" cap="sq">
              <a:solidFill>
                <a:srgbClr val="CCCCCC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355779" y="9129417"/>
            <a:ext cx="800344" cy="33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0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Impact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55779" y="9378105"/>
            <a:ext cx="681794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Access to High Command messages influenced strategic </a:t>
            </a:r>
          </a:p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Allied decisions.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4191" y="777030"/>
            <a:ext cx="6549476" cy="8732787"/>
            <a:chOff x="0" y="0"/>
            <a:chExt cx="8732634" cy="1164371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32647" cy="11643741"/>
            </a:xfrm>
            <a:custGeom>
              <a:avLst/>
              <a:gdLst/>
              <a:ahLst/>
              <a:cxnLst/>
              <a:rect r="r" b="b" t="t" l="l"/>
              <a:pathLst>
                <a:path h="11643741" w="8732647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938049" y="1475337"/>
            <a:ext cx="9269911" cy="127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Navajo Code Talkers — Secure Voice Communication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38049" y="3105893"/>
            <a:ext cx="9269911" cy="158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U.S. Marine Corps used native Navajo speakers to transmit secure radio messages in World War II. The Navajo language — combined with special code terms — produced a fast, reliable cipher that remained unbroken by enemies.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7938049" y="5039173"/>
            <a:ext cx="771525" cy="771525"/>
          </a:xfrm>
          <a:custGeom>
            <a:avLst/>
            <a:gdLst/>
            <a:ahLst/>
            <a:cxnLst/>
            <a:rect r="r" b="b" t="t" l="l"/>
            <a:pathLst>
              <a:path h="771525" w="771525">
                <a:moveTo>
                  <a:pt x="0" y="0"/>
                </a:moveTo>
                <a:lnTo>
                  <a:pt x="771525" y="0"/>
                </a:lnTo>
                <a:lnTo>
                  <a:pt x="771525" y="771525"/>
                </a:ln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049" t="0" r="-3048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095337" y="5020123"/>
            <a:ext cx="8112623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Speed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95337" y="5505298"/>
            <a:ext cx="8112623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Messages were encoded and transmitted quickly — crucial in fast-moving battles.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7938049" y="7214892"/>
            <a:ext cx="771525" cy="771525"/>
          </a:xfrm>
          <a:custGeom>
            <a:avLst/>
            <a:gdLst/>
            <a:ahLst/>
            <a:cxnLst/>
            <a:rect r="r" b="b" t="t" l="l"/>
            <a:pathLst>
              <a:path h="771525" w="771525">
                <a:moveTo>
                  <a:pt x="0" y="0"/>
                </a:moveTo>
                <a:lnTo>
                  <a:pt x="771525" y="0"/>
                </a:lnTo>
                <a:lnTo>
                  <a:pt x="771525" y="771525"/>
                </a:ln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195" r="0" b="-1219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095337" y="7195842"/>
            <a:ext cx="8112623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Security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95337" y="7681017"/>
            <a:ext cx="8112623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Language and code words created a practical, human-based encryption method.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9" y="1210418"/>
            <a:ext cx="6006408" cy="6006408"/>
            <a:chOff x="0" y="0"/>
            <a:chExt cx="8008544" cy="8008544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008493" cy="8008493"/>
            </a:xfrm>
            <a:custGeom>
              <a:avLst/>
              <a:gdLst/>
              <a:ahLst/>
              <a:cxnLst/>
              <a:rect r="r" b="b" t="t" l="l"/>
              <a:pathLst>
                <a:path h="8008493" w="8008493">
                  <a:moveTo>
                    <a:pt x="0" y="0"/>
                  </a:moveTo>
                  <a:lnTo>
                    <a:pt x="8008493" y="0"/>
                  </a:lnTo>
                  <a:lnTo>
                    <a:pt x="8008493" y="8008493"/>
                  </a:lnTo>
                  <a:lnTo>
                    <a:pt x="0" y="8008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37141" y="3013920"/>
            <a:ext cx="9380191" cy="64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Zimmermann Telegram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37141" y="3853758"/>
            <a:ext cx="9380191" cy="155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 coded German message in World War I proposing an alliance with Mexico against the USA. British interception and decoding exposed the plan and helped push the United States into the war.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0049" y="8050854"/>
            <a:ext cx="151800" cy="151800"/>
            <a:chOff x="0" y="0"/>
            <a:chExt cx="202400" cy="202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2438" cy="202438"/>
            </a:xfrm>
            <a:custGeom>
              <a:avLst/>
              <a:gdLst/>
              <a:ahLst/>
              <a:cxnLst/>
              <a:rect r="r" b="b" t="t" l="l"/>
              <a:pathLst>
                <a:path h="202438" w="202438">
                  <a:moveTo>
                    <a:pt x="0" y="101219"/>
                  </a:moveTo>
                  <a:cubicBezTo>
                    <a:pt x="0" y="45339"/>
                    <a:pt x="45339" y="0"/>
                    <a:pt x="101219" y="0"/>
                  </a:cubicBezTo>
                  <a:cubicBezTo>
                    <a:pt x="157099" y="0"/>
                    <a:pt x="202438" y="45339"/>
                    <a:pt x="202438" y="101219"/>
                  </a:cubicBezTo>
                  <a:cubicBezTo>
                    <a:pt x="202438" y="157099"/>
                    <a:pt x="157099" y="202438"/>
                    <a:pt x="101219" y="202438"/>
                  </a:cubicBezTo>
                  <a:cubicBezTo>
                    <a:pt x="45339" y="202438"/>
                    <a:pt x="0" y="157099"/>
                    <a:pt x="0" y="101219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30848" y="7860954"/>
            <a:ext cx="7426223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Why it mattered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0848" y="8343748"/>
            <a:ext cx="7426223" cy="106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Shows how intercepted diplomatic codes can change geopolitical events.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30776" y="8050854"/>
            <a:ext cx="151800" cy="151800"/>
            <a:chOff x="0" y="0"/>
            <a:chExt cx="202400" cy="202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2438" cy="202438"/>
            </a:xfrm>
            <a:custGeom>
              <a:avLst/>
              <a:gdLst/>
              <a:ahLst/>
              <a:cxnLst/>
              <a:rect r="r" b="b" t="t" l="l"/>
              <a:pathLst>
                <a:path h="202438" w="202438">
                  <a:moveTo>
                    <a:pt x="0" y="101219"/>
                  </a:moveTo>
                  <a:cubicBezTo>
                    <a:pt x="0" y="45339"/>
                    <a:pt x="45339" y="0"/>
                    <a:pt x="101219" y="0"/>
                  </a:cubicBezTo>
                  <a:cubicBezTo>
                    <a:pt x="157099" y="0"/>
                    <a:pt x="202438" y="45339"/>
                    <a:pt x="202438" y="101219"/>
                  </a:cubicBezTo>
                  <a:cubicBezTo>
                    <a:pt x="202438" y="157099"/>
                    <a:pt x="157099" y="202438"/>
                    <a:pt x="101219" y="202438"/>
                  </a:cubicBezTo>
                  <a:cubicBezTo>
                    <a:pt x="45339" y="202438"/>
                    <a:pt x="0" y="157099"/>
                    <a:pt x="0" y="101219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781584" y="7860954"/>
            <a:ext cx="7426376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Lesson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81584" y="8343748"/>
            <a:ext cx="7426376" cy="58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Even powerful states can be undone by leaked or broken secrets.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082431"/>
            <a:ext cx="16127911" cy="65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From Playfair to Public-Key — The Path to Modern Cryptography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2250129"/>
            <a:ext cx="16127911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Techniques evolved from manual ciphers (Playfair, 1854) to electromechanical machines (Enigma, Lorenz) and then to mathematical algorithms after WWII. Public-key cryptography (1970s) enabled secure internet commerce and today’s digital privacy.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0524" y="3680069"/>
            <a:ext cx="5189344" cy="2232717"/>
            <a:chOff x="0" y="0"/>
            <a:chExt cx="6919125" cy="29769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19087" cy="2976880"/>
            </a:xfrm>
            <a:custGeom>
              <a:avLst/>
              <a:gdLst/>
              <a:ahLst/>
              <a:cxnLst/>
              <a:rect r="r" b="b" t="t" l="l"/>
              <a:pathLst>
                <a:path h="2976880" w="6919087">
                  <a:moveTo>
                    <a:pt x="0" y="174244"/>
                  </a:moveTo>
                  <a:cubicBezTo>
                    <a:pt x="0" y="77978"/>
                    <a:pt x="77978" y="0"/>
                    <a:pt x="174244" y="0"/>
                  </a:cubicBezTo>
                  <a:lnTo>
                    <a:pt x="6744843" y="0"/>
                  </a:lnTo>
                  <a:cubicBezTo>
                    <a:pt x="6841110" y="0"/>
                    <a:pt x="6919087" y="77978"/>
                    <a:pt x="6919087" y="174244"/>
                  </a:cubicBezTo>
                  <a:lnTo>
                    <a:pt x="6919087" y="2802636"/>
                  </a:lnTo>
                  <a:cubicBezTo>
                    <a:pt x="6919087" y="2898902"/>
                    <a:pt x="6841110" y="2976880"/>
                    <a:pt x="6744843" y="2976880"/>
                  </a:cubicBezTo>
                  <a:lnTo>
                    <a:pt x="174244" y="2976880"/>
                  </a:lnTo>
                  <a:cubicBezTo>
                    <a:pt x="77978" y="2977007"/>
                    <a:pt x="0" y="2898902"/>
                    <a:pt x="0" y="2802636"/>
                  </a:cubicBezTo>
                  <a:close/>
                </a:path>
              </a:pathLst>
            </a:custGeom>
            <a:solidFill>
              <a:srgbClr val="E6E6E6"/>
            </a:solidFill>
            <a:ln w="19050" cap="sq">
              <a:solidFill>
                <a:srgbClr val="CCCCC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407614" y="3998119"/>
            <a:ext cx="4515145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Playfair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7614" y="4483303"/>
            <a:ext cx="4515145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Pairwise encryption that improved over single-letter substitution.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49333" y="3680069"/>
            <a:ext cx="5189344" cy="2232717"/>
            <a:chOff x="0" y="0"/>
            <a:chExt cx="6919125" cy="29769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19087" cy="2976880"/>
            </a:xfrm>
            <a:custGeom>
              <a:avLst/>
              <a:gdLst/>
              <a:ahLst/>
              <a:cxnLst/>
              <a:rect r="r" b="b" t="t" l="l"/>
              <a:pathLst>
                <a:path h="2976880" w="6919087">
                  <a:moveTo>
                    <a:pt x="0" y="174244"/>
                  </a:moveTo>
                  <a:cubicBezTo>
                    <a:pt x="0" y="77978"/>
                    <a:pt x="77978" y="0"/>
                    <a:pt x="174244" y="0"/>
                  </a:cubicBezTo>
                  <a:lnTo>
                    <a:pt x="6744843" y="0"/>
                  </a:lnTo>
                  <a:cubicBezTo>
                    <a:pt x="6841110" y="0"/>
                    <a:pt x="6919087" y="77978"/>
                    <a:pt x="6919087" y="174244"/>
                  </a:cubicBezTo>
                  <a:lnTo>
                    <a:pt x="6919087" y="2802636"/>
                  </a:lnTo>
                  <a:cubicBezTo>
                    <a:pt x="6919087" y="2898902"/>
                    <a:pt x="6841110" y="2976880"/>
                    <a:pt x="6744843" y="2976880"/>
                  </a:cubicBezTo>
                  <a:lnTo>
                    <a:pt x="174244" y="2976880"/>
                  </a:lnTo>
                  <a:cubicBezTo>
                    <a:pt x="77978" y="2977007"/>
                    <a:pt x="0" y="2898902"/>
                    <a:pt x="0" y="2802636"/>
                  </a:cubicBezTo>
                  <a:close/>
                </a:path>
              </a:pathLst>
            </a:custGeom>
            <a:solidFill>
              <a:srgbClr val="E6E6E6"/>
            </a:solidFill>
            <a:ln w="19050" cap="sq">
              <a:solidFill>
                <a:srgbClr val="CCCCCC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886423" y="3998119"/>
            <a:ext cx="4515145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Colossus Era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86423" y="4483303"/>
            <a:ext cx="4515145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Early electronic computation used to break complex ciphers.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28141" y="3680069"/>
            <a:ext cx="5189344" cy="2232717"/>
            <a:chOff x="0" y="0"/>
            <a:chExt cx="6919125" cy="29769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19087" cy="2976880"/>
            </a:xfrm>
            <a:custGeom>
              <a:avLst/>
              <a:gdLst/>
              <a:ahLst/>
              <a:cxnLst/>
              <a:rect r="r" b="b" t="t" l="l"/>
              <a:pathLst>
                <a:path h="2976880" w="6919087">
                  <a:moveTo>
                    <a:pt x="0" y="174244"/>
                  </a:moveTo>
                  <a:cubicBezTo>
                    <a:pt x="0" y="77978"/>
                    <a:pt x="77978" y="0"/>
                    <a:pt x="174244" y="0"/>
                  </a:cubicBezTo>
                  <a:lnTo>
                    <a:pt x="6744843" y="0"/>
                  </a:lnTo>
                  <a:cubicBezTo>
                    <a:pt x="6841110" y="0"/>
                    <a:pt x="6919087" y="77978"/>
                    <a:pt x="6919087" y="174244"/>
                  </a:cubicBezTo>
                  <a:lnTo>
                    <a:pt x="6919087" y="2802636"/>
                  </a:lnTo>
                  <a:cubicBezTo>
                    <a:pt x="6919087" y="2898902"/>
                    <a:pt x="6841110" y="2976880"/>
                    <a:pt x="6744843" y="2976880"/>
                  </a:cubicBezTo>
                  <a:lnTo>
                    <a:pt x="174244" y="2976880"/>
                  </a:lnTo>
                  <a:cubicBezTo>
                    <a:pt x="77978" y="2977007"/>
                    <a:pt x="0" y="2898902"/>
                    <a:pt x="0" y="2802636"/>
                  </a:cubicBezTo>
                  <a:close/>
                </a:path>
              </a:pathLst>
            </a:custGeom>
            <a:solidFill>
              <a:srgbClr val="E6E6E6"/>
            </a:solidFill>
            <a:ln w="19050" cap="sq">
              <a:solidFill>
                <a:srgbClr val="CCCCCC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365241" y="3998119"/>
            <a:ext cx="4515145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Modern Era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65241" y="4483303"/>
            <a:ext cx="4515145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Algorithms and keys protect banking, messaging, and identity online.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80049" y="7091210"/>
            <a:ext cx="16127911" cy="1234230"/>
            <a:chOff x="0" y="0"/>
            <a:chExt cx="21503881" cy="16456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03894" cy="1645666"/>
            </a:xfrm>
            <a:custGeom>
              <a:avLst/>
              <a:gdLst/>
              <a:ahLst/>
              <a:cxnLst/>
              <a:rect r="r" b="b" t="t" l="l"/>
              <a:pathLst>
                <a:path h="1645666" w="21503894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21331047" y="0"/>
                  </a:lnTo>
                  <a:cubicBezTo>
                    <a:pt x="21426551" y="0"/>
                    <a:pt x="21503894" y="77343"/>
                    <a:pt x="21503894" y="172847"/>
                  </a:cubicBezTo>
                  <a:lnTo>
                    <a:pt x="21503894" y="1472819"/>
                  </a:lnTo>
                  <a:cubicBezTo>
                    <a:pt x="21503894" y="1568323"/>
                    <a:pt x="21426551" y="1645666"/>
                    <a:pt x="21331047" y="1645666"/>
                  </a:cubicBezTo>
                  <a:lnTo>
                    <a:pt x="172847" y="1645666"/>
                  </a:lnTo>
                  <a:cubicBezTo>
                    <a:pt x="77343" y="1645666"/>
                    <a:pt x="0" y="1568323"/>
                    <a:pt x="0" y="1472819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88564" y="7530703"/>
            <a:ext cx="385762" cy="308524"/>
            <a:chOff x="0" y="0"/>
            <a:chExt cx="514350" cy="411366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514350" cy="411353"/>
            </a:xfrm>
            <a:custGeom>
              <a:avLst/>
              <a:gdLst/>
              <a:ahLst/>
              <a:cxnLst/>
              <a:rect r="r" b="b" t="t" l="l"/>
              <a:pathLst>
                <a:path h="411353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11353"/>
                  </a:lnTo>
                  <a:lnTo>
                    <a:pt x="0" y="411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7" r="0" b="-324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082851" y="7372055"/>
            <a:ext cx="15730985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Key takeaway: cryptography shaped history and continues to secure our digital lives.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DAHPtYdcQF0</dc:identifier>
  <dcterms:modified xsi:type="dcterms:W3CDTF">2011-08-01T06:04:30Z</dcterms:modified>
  <cp:revision>1</cp:revision>
  <dc:title>Famous-Historical-Cryptographic-Machines-and-Events.pptx</dc:title>
</cp:coreProperties>
</file>